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59" r:id="rId2"/>
    <p:sldId id="270" r:id="rId3"/>
    <p:sldId id="261" r:id="rId4"/>
    <p:sldId id="262" r:id="rId5"/>
    <p:sldId id="263" r:id="rId6"/>
    <p:sldId id="264" r:id="rId7"/>
    <p:sldId id="265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86" r:id="rId24"/>
    <p:sldId id="287" r:id="rId25"/>
    <p:sldId id="288" r:id="rId26"/>
    <p:sldId id="289" r:id="rId27"/>
    <p:sldId id="290" r:id="rId28"/>
    <p:sldId id="291" r:id="rId29"/>
    <p:sldId id="292" r:id="rId30"/>
    <p:sldId id="293" r:id="rId31"/>
    <p:sldId id="294" r:id="rId32"/>
    <p:sldId id="295" r:id="rId33"/>
    <p:sldId id="296" r:id="rId34"/>
    <p:sldId id="297" r:id="rId35"/>
    <p:sldId id="298" r:id="rId36"/>
    <p:sldId id="299" r:id="rId37"/>
    <p:sldId id="300" r:id="rId38"/>
    <p:sldId id="301" r:id="rId39"/>
    <p:sldId id="267" r:id="rId40"/>
    <p:sldId id="268" r:id="rId41"/>
    <p:sldId id="269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422FEF-5BF5-44A1-BB98-97288B2EB98B}" v="259" dt="2026-04-23T05:02:35.2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4" autoAdjust="0"/>
    <p:restoredTop sz="94660"/>
  </p:normalViewPr>
  <p:slideViewPr>
    <p:cSldViewPr snapToGrid="0">
      <p:cViewPr varScale="1">
        <p:scale>
          <a:sx n="49" d="100"/>
          <a:sy n="49" d="100"/>
        </p:scale>
        <p:origin x="29" y="7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23/04/2026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5634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23-04-2026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23-04-2026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23-04-2026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23-04-2026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23-04-2026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23-04-2026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23-04-2026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23-04-2026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23-04-2026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23-04-2026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23-04-2026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23-04-2026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datatracker.ietf.org/doc/html/rfc7519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41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eharshithv14-ctrl/INTERNSHIP" TargetMode="Externa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wm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 </a:t>
            </a:r>
            <a:r>
              <a:rPr lang="en-US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H Senthil Kumar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Associate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/>
                <a:ea typeface="+mn-lt"/>
                <a:cs typeface="+mn-lt"/>
                <a:sym typeface="Verdana" panose="020B0604030504040204"/>
              </a:rPr>
              <a:t>B-Tech CSE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/>
                <a:ea typeface="+mn-lt"/>
                <a:cs typeface="+mn-lt"/>
                <a:sym typeface="Verdana" panose="020B0604030504040204"/>
              </a:rPr>
              <a:t>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/>
                <a:ea typeface="+mn-lt"/>
                <a:cs typeface="+mn-lt"/>
                <a:sym typeface="Verdana" panose="020B0604030504040204"/>
              </a:rPr>
              <a:t>Dr. Asif Mohammed</a:t>
            </a:r>
            <a:endParaRPr lang="en-US" sz="2000" b="1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anose="02040503050406030204"/>
                <a:ea typeface="+mn-lt"/>
                <a:cs typeface="+mn-lt"/>
                <a:sym typeface="Verdana" panose="020B0604030504040204"/>
              </a:rPr>
              <a:t>Mr. Sakthi S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Review-5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TITLE OF THE INTERNSHIP / WORK ASSIGNED / DOMAIN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1342879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HARSHITH V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20221CSE0635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8CSE12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377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940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/>
          <a:lstStyle/>
          <a:p>
            <a:r>
              <a:rPr lang="en-US" b="1" dirty="0">
                <a:latin typeface="Times New Roman" panose="02020603050405020304"/>
                <a:ea typeface="+mn-lt"/>
                <a:cs typeface="+mn-lt"/>
                <a:sym typeface="+mn-ea"/>
              </a:rPr>
              <a:t>Company / Organization Name:</a:t>
            </a:r>
            <a:r>
              <a:rPr lang="en-US" dirty="0">
                <a:latin typeface="Times New Roman" panose="02020603050405020304"/>
                <a:ea typeface="+mn-lt"/>
                <a:cs typeface="+mn-lt"/>
                <a:sym typeface="+mn-ea"/>
              </a:rPr>
              <a:t> Rail Wheel Factory (RWF)</a:t>
            </a:r>
            <a:endParaRPr lang="en-US" dirty="0">
              <a:latin typeface="Times New Roman" panose="02020603050405020304"/>
              <a:ea typeface="Cambria" panose="02040503050406030204"/>
              <a:cs typeface="Times New Roman" panose="02020603050405020304"/>
            </a:endParaRPr>
          </a:p>
          <a:p>
            <a:r>
              <a:rPr lang="en-US" b="1" dirty="0">
                <a:latin typeface="Times New Roman" panose="02020603050405020304"/>
                <a:ea typeface="+mn-lt"/>
                <a:cs typeface="+mn-lt"/>
                <a:sym typeface="+mn-ea"/>
              </a:rPr>
              <a:t>Organization Type:</a:t>
            </a:r>
            <a:r>
              <a:rPr lang="en-US" dirty="0">
                <a:latin typeface="Times New Roman" panose="02020603050405020304"/>
                <a:ea typeface="+mn-lt"/>
                <a:cs typeface="+mn-lt"/>
                <a:sym typeface="+mn-ea"/>
              </a:rPr>
              <a:t> Government of India Enterprise(Under Ministry of Railways)</a:t>
            </a:r>
            <a:endParaRPr lang="en-US" dirty="0">
              <a:latin typeface="Times New Roman" panose="02020603050405020304"/>
              <a:ea typeface="Cambria" panose="02040503050406030204"/>
              <a:cs typeface="Times New Roman" panose="02020603050405020304"/>
            </a:endParaRPr>
          </a:p>
          <a:p>
            <a:r>
              <a:rPr lang="en-US" b="1" dirty="0">
                <a:latin typeface="Times New Roman" panose="02020603050405020304"/>
                <a:ea typeface="+mn-lt"/>
                <a:cs typeface="+mn-lt"/>
                <a:sym typeface="+mn-ea"/>
              </a:rPr>
              <a:t>Location:</a:t>
            </a:r>
            <a:r>
              <a:rPr lang="en-US" dirty="0">
                <a:latin typeface="Times New Roman" panose="02020603050405020304"/>
                <a:ea typeface="+mn-lt"/>
                <a:cs typeface="+mn-lt"/>
                <a:sym typeface="+mn-ea"/>
              </a:rPr>
              <a:t> Yelahanka, Bengaluru, Karnataka</a:t>
            </a:r>
            <a:endParaRPr lang="en-US" dirty="0">
              <a:latin typeface="Times New Roman" panose="02020603050405020304"/>
              <a:ea typeface="Cambria" panose="02040503050406030204"/>
              <a:cs typeface="Times New Roman" panose="02020603050405020304"/>
            </a:endParaRPr>
          </a:p>
          <a:p>
            <a:r>
              <a:rPr lang="en-US" b="1" dirty="0">
                <a:latin typeface="Times New Roman" panose="02020603050405020304"/>
                <a:ea typeface="+mn-lt"/>
                <a:cs typeface="+mn-lt"/>
                <a:sym typeface="+mn-ea"/>
              </a:rPr>
              <a:t>Overview:</a:t>
            </a:r>
            <a:r>
              <a:rPr lang="en-US" dirty="0">
                <a:latin typeface="Times New Roman" panose="02020603050405020304"/>
                <a:ea typeface="+mn-lt"/>
                <a:cs typeface="+mn-lt"/>
                <a:sym typeface="+mn-ea"/>
              </a:rPr>
              <a:t> Rail Wheel Factory (RWF) is a premier manufacturing unit of Indian Railways, established to manufacture cast steel wheels and axles used in railway rolling stock across India.</a:t>
            </a:r>
            <a:endParaRPr lang="en-US" dirty="0">
              <a:latin typeface="Times New Roman" panose="02020603050405020304"/>
              <a:ea typeface="+mn-lt"/>
              <a:cs typeface="+mn-lt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Domain: Full Stack Web Development</a:t>
            </a: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Used:</a:t>
            </a:r>
          </a:p>
          <a:p>
            <a:pPr marL="0" indent="0">
              <a:buNone/>
            </a:pPr>
            <a:r>
              <a:rPr lang="en-US" alt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Script</a:t>
            </a:r>
          </a:p>
          <a:p>
            <a:pPr marL="0" indent="0">
              <a:buNone/>
            </a:pPr>
            <a:r>
              <a:rPr lang="en-US" alt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 (REST API Architecture)</a:t>
            </a:r>
          </a:p>
          <a:p>
            <a:pPr marL="0" indent="0">
              <a:buNone/>
            </a:pPr>
            <a:r>
              <a:rPr lang="en-US" alt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SQL Server</a:t>
            </a:r>
          </a:p>
          <a:p>
            <a:pPr marL="0" indent="0">
              <a:buNone/>
            </a:pPr>
            <a:r>
              <a:rPr lang="en-US" alt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Code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Postman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follows a Three-Tier Architecture (Frontend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Backend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Database).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6"/>
            <a:ext cx="10515600" cy="468040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GB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carried out under organizational supervision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Reporting Manager: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Buddha Appa Rao, Senior Section Engineer (SSE)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Rail Wheel Factory.</a:t>
            </a:r>
            <a:endParaRPr lang="en-US" alt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Regular progress reviews</a:t>
            </a:r>
          </a:p>
          <a:p>
            <a:pPr marL="0" indent="0">
              <a:buNone/>
            </a:pP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Independent project-based development</a:t>
            </a:r>
          </a:p>
          <a:p>
            <a:pPr marL="0" indent="0">
              <a:buNone/>
            </a:pPr>
            <a:r>
              <a:rPr lang="en-US" alt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Responsibilities:</a:t>
            </a:r>
          </a:p>
          <a:p>
            <a:pPr marL="0" indent="0">
              <a:buNone/>
            </a:pP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Database schema design</a:t>
            </a:r>
          </a:p>
          <a:p>
            <a:pPr marL="0" indent="0">
              <a:buNone/>
            </a:pP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Writing SQL queries</a:t>
            </a:r>
          </a:p>
          <a:p>
            <a:pPr marL="0" indent="0">
              <a:buNone/>
            </a:pP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Developing Flask APIs</a:t>
            </a:r>
          </a:p>
          <a:p>
            <a:pPr marL="0" indent="0">
              <a:buNone/>
            </a:pP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Frontend integration</a:t>
            </a:r>
          </a:p>
          <a:p>
            <a:pPr marL="0" indent="0">
              <a:buNone/>
            </a:pP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Authentication system implementation</a:t>
            </a:r>
          </a:p>
          <a:p>
            <a:pPr marL="0" indent="0">
              <a:buNone/>
            </a:pPr>
            <a:r>
              <a:rPr lang="en-US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Debugging and testing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Designing normalized relational database</a:t>
            </a: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Creating proper primary and foreign key relationships</a:t>
            </a: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Handling SQL join operations</a:t>
            </a: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Debugging Flask–SQL Server connection errors</a:t>
            </a: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Managing session-based authentication</a:t>
            </a: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Fixing frontend-backend API integration issues</a:t>
            </a:r>
          </a:p>
          <a:p>
            <a:pPr marL="0" indent="0">
              <a:buNone/>
            </a:pPr>
            <a:r>
              <a:rPr lang="en-US" alt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Outcome:</a:t>
            </a: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Improved problem-solving skills</a:t>
            </a: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Strong understanding of REST API architecture</a:t>
            </a:r>
          </a:p>
          <a:p>
            <a:pPr marL="0" indent="0">
              <a:buNone/>
            </a:pPr>
            <a:r>
              <a:rPr lang="en-US" alt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Better debugging and system design knowledge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925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Digitize hospital workflows: patient registration, visits, diagnoses &amp; prescriptions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 role-based access for Doctors, Patients, Pharmacists and Admins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 real-time prescription tracking and one-click pharmacy dispensing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Allow patients to securely upload and view their own medical files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 an admin dashboard with live stats and bulk patient import (Excel/CSV)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 data persistence — no records lost on schema re-deployment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9874459-3E33-F2C6-3C86-E2EEC34B90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7703" y="1480134"/>
            <a:ext cx="11676594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Existing HMS tools (Epic, Meditech) are expensive, desktop-bound and complex to deploy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Most open-source alternatives lack role-based access and modern UI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unified view across doctor, pharmacist and admin roles in a single application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 upload and bulk import features are rarely included in reviewed systems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Schema migrations in existing tools routinely destroy live patient data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Flask + JWT and React + TypeScript identified as best fit for a secure, modern stack </a:t>
            </a:r>
          </a:p>
        </p:txBody>
      </p:sp>
    </p:spTree>
    <p:extLst>
      <p:ext uri="{BB962C8B-B14F-4D97-AF65-F5344CB8AC3E}">
        <p14:creationId xmlns:p14="http://schemas.microsoft.com/office/powerpoint/2010/main" val="972927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85000" lnSpcReduction="2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Medicare Plus is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full-stack Hospital Management System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using: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 (Backend API)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Server (Database)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Interface (Frontend)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&amp; Visit Management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CSV-based Bulk Data Import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Chronic Disease Tracking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Prescription &amp; Lab Management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Analytics Dashboard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2477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Fragmented patient data across hospital departments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Inefficient manual record-keeping systems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real-time analytics for decision-making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tracking of chronic diseases over time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risks in traditional authentication systems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handling large-scale patient data 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0598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8696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and integrated healthcare system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patient tracking and analytics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bulk data import using CSV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authentication and access control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and modular architecture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chronic disease monitoring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workload and errors 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66521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 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Three-tier architecture: </a:t>
            </a:r>
          </a:p>
          <a:p>
            <a:pPr lvl="1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Layer (UI) </a:t>
            </a:r>
          </a:p>
          <a:p>
            <a:pPr lvl="1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Layer (Flask API) </a:t>
            </a:r>
          </a:p>
          <a:p>
            <a:pPr lvl="1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Layer (SQL Server) 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 API communication </a:t>
            </a:r>
          </a:p>
          <a:p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JWT-based authentication </a:t>
            </a:r>
          </a:p>
          <a:p>
            <a:pPr marL="0" indent="0">
              <a:buNone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Entities: </a:t>
            </a:r>
          </a:p>
          <a:p>
            <a:pPr lvl="1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Patients, Doctors, Visits, Prescriptions 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Relationships: </a:t>
            </a:r>
          </a:p>
          <a:p>
            <a:pPr lvl="1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patient → multiple visits 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Flow: </a:t>
            </a:r>
          </a:p>
          <a:p>
            <a:pPr lvl="1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→ Dashboard → Data operations → Storage → Analytics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54325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59E63FB-721B-7382-67C7-724F7C15621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184366"/>
            <a:ext cx="8356711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Backend developed using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Flask REST APIs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 implemented in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SQL Server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CSV import module for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bulk patient &amp; visit ingestion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JWT used for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secure authentication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Modular design using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API-based architecture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linking of: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	Patients → Visits → Diagnosis → Prescriptions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26174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3B6C666-97A5-6E04-B69D-E707B420D92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184366"/>
            <a:ext cx="4922053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Unit Testing for API endpoints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Integration Testing for modules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CSV Import Testing: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validation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Deduplication checks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Testing: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API response time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Security Testing: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validation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Input sanitization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80511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Medicare Plus successfully integrates hospital operations into a unified system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secure, scalable, and efficient healthcare management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analytics and patient tracking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decision-making and reduces manual effort 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disease prediction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Telemedicine integration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23990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fontScale="70000" lnSpcReduction="20000"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Sommerville, I. (2015).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Engineering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(10th ed.). Pearson. (Suitable for referencing the software development life cycle, architectural patterns, and system design).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Silberschatz, A., Korth, H. F., &amp; Sudarshan, S. (2019).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System Concepts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(7th ed.). McGraw-Hill Education. (Legitimate academic reference for relational database design, normalization, and view creation).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Krug, S. (2014).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Don't Make Me Think, Revisited: A Common Sense Approach to Web Usability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(3rd ed.). New Riders. (Suitable for justifying the UI/UX design choices, dashboard layouts, and interactive components).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Ferraiolo, D. F., &amp; Kuhn, D. R. (1992).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 Controls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In Proceedings of the 15th NIST-NCSC National Computer Security Conference. (Foundational academic paper to justify the multi-tier permission system for Admins, Doctors, Receptionists, Radiologists, and Patients). 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Jones, M., Bradley, J., &amp;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Sakimura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N. (2015).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RFC 7519: JSON Web Token (JWT)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Internet Engineering Task Force (IETF). Retrieved from </a:t>
            </a:r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https://datatracker.ietf.org/doc/html/rfc7519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(Official standard reference for the stateless authentication method).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493986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F1203-851F-5781-C02B-72A685096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0675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CDA235-B1A3-7AC1-6E08-D38B0856F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23-04-2026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78B608-40A8-251B-2E15-7AB392086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18</a:t>
            </a:fld>
            <a:endParaRPr lang="en-IN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097517B-7A21-8CDB-6689-3A224F720F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9910" y="1589800"/>
            <a:ext cx="257217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125" algn="l"/>
              </a:tabLs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Screenshot Placeholders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125" algn="l"/>
              </a:tabLs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5" name="Picture 2">
            <a:extLst>
              <a:ext uri="{FF2B5EF4-FFF2-40B4-BE49-F238E27FC236}">
                <a16:creationId xmlns:a16="http://schemas.microsoft.com/office/drawing/2014/main" id="{719E7E27-09F0-708C-0CEA-78EC4C2D45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7393" y="2101206"/>
            <a:ext cx="5699125" cy="3070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BD9B492D-1AD9-9E0C-497F-1046402ED1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6940" y="5171431"/>
            <a:ext cx="854003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125" algn="l"/>
              </a:tabLst>
            </a:pPr>
            <a:r>
              <a:rPr kumimoji="0" lang="en-US" altLang="en-US" sz="12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Fig A.1: MediCare Plus Landing Page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125" algn="l"/>
              </a:tabLst>
            </a:pP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image shows the MediCare Plus landing page with a dark-themed interface and role-based login options for secure system access.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14914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289375-C0B2-D6E7-9F3F-CF3657602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23-04-2026</a:t>
            </a:fld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E72E67-B8A5-428F-460E-7959ED935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19</a:t>
            </a:fld>
            <a:endParaRPr lang="en-IN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3DAA2AD-F494-EE3F-8C9B-0FF86D4E11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2049" name="Picture 3">
            <a:extLst>
              <a:ext uri="{FF2B5EF4-FFF2-40B4-BE49-F238E27FC236}">
                <a16:creationId xmlns:a16="http://schemas.microsoft.com/office/drawing/2014/main" id="{94EBB4C6-C821-9166-6ABE-2AAF724566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0562" y="685800"/>
            <a:ext cx="5730875" cy="3192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0E95ED02-28B1-00C7-773E-7055DE2594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131" y="4383236"/>
            <a:ext cx="944748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125" algn="l"/>
              </a:tabLst>
            </a:pPr>
            <a:r>
              <a:rPr kumimoji="0" lang="en-US" altLang="en-US" sz="12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Fig A.2: Doctor Login Interface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125" algn="l"/>
              </a:tabLst>
            </a:pP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image shows the Doctor Login screen of MediCare Plus enabling secure access for managing visits, diagnoses, and prescriptions.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52547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399FEE-8ACE-6925-28DF-14C1563E8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23-04-2026</a:t>
            </a:fld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73826C5-88CA-4530-9878-40425A109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20</a:t>
            </a:fld>
            <a:endParaRPr lang="en-IN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B01EEF9-D895-F84F-79AA-AAB5E20F03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6501" y="628821"/>
            <a:ext cx="4998997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125" algn="l"/>
              </a:tabLs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DOCTOR DASHBOARD: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125" algn="l"/>
              </a:tabLs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3" name="Picture 5">
            <a:extLst>
              <a:ext uri="{FF2B5EF4-FFF2-40B4-BE49-F238E27FC236}">
                <a16:creationId xmlns:a16="http://schemas.microsoft.com/office/drawing/2014/main" id="{FA2854ED-1F52-58B4-C867-2928F4E351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7550" y="1221827"/>
            <a:ext cx="5676900" cy="3192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5041100E-2D84-C003-10FB-3A45DB9309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1875" y="4923654"/>
            <a:ext cx="998824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125" algn="l"/>
              </a:tabLst>
            </a:pPr>
            <a:r>
              <a:rPr kumimoji="0" lang="en-US" altLang="en-US" sz="12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Figure A3: Doctor Dashboard Interface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125" algn="l"/>
              </a:tabLst>
            </a:pP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This image shows the Doctor Dashboard of MediCare Plus displaying patient statistics, navigation options, and quick actions for managing visits and records.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86343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71A326-5143-F2B2-4571-02C278B29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23-04-2026</a:t>
            </a:fld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9D243FB-FC3E-5802-4A63-C8B262E95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21</a:t>
            </a:fld>
            <a:endParaRPr lang="en-IN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35B6C04-6F46-E7C2-10C6-089561A1B0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0488" y="74056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4101" name="Picture 1">
            <a:extLst>
              <a:ext uri="{FF2B5EF4-FFF2-40B4-BE49-F238E27FC236}">
                <a16:creationId xmlns:a16="http://schemas.microsoft.com/office/drawing/2014/main" id="{3C50FDF3-E20D-B0D3-4A8F-5198C0BCE2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0488" y="1197768"/>
            <a:ext cx="2705100" cy="1477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7">
            <a:extLst>
              <a:ext uri="{FF2B5EF4-FFF2-40B4-BE49-F238E27FC236}">
                <a16:creationId xmlns:a16="http://schemas.microsoft.com/office/drawing/2014/main" id="{74809656-F121-400A-4F2B-CDDA67DEFE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0488" y="2675731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Fig A.4: My Patient Reports Interface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D135F04F-235A-C45A-BAEA-E46330713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0437" y="76279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4104" name="Picture 9">
            <a:extLst>
              <a:ext uri="{FF2B5EF4-FFF2-40B4-BE49-F238E27FC236}">
                <a16:creationId xmlns:a16="http://schemas.microsoft.com/office/drawing/2014/main" id="{9D6638CF-0081-2866-B806-1739B897F0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0437" y="1219992"/>
            <a:ext cx="2734966" cy="1501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:a16="http://schemas.microsoft.com/office/drawing/2014/main" id="{0BD642E3-0BAF-16AB-F767-4125FAAAF2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0437" y="2675731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Fig A.5: All Medical Records Interface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BF47720B-B5C7-5962-EDE3-F628BA251B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0386" y="74056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4107" name="Picture 10">
            <a:extLst>
              <a:ext uri="{FF2B5EF4-FFF2-40B4-BE49-F238E27FC236}">
                <a16:creationId xmlns:a16="http://schemas.microsoft.com/office/drawing/2014/main" id="{20943F57-7834-CF95-33FC-824725B549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0386" y="1197768"/>
            <a:ext cx="2713038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3">
            <a:extLst>
              <a:ext uri="{FF2B5EF4-FFF2-40B4-BE49-F238E27FC236}">
                <a16:creationId xmlns:a16="http://schemas.microsoft.com/office/drawing/2014/main" id="{1F7BA28C-0281-8B79-9F32-469F7C091D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0386" y="272176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Fig A.6: Create New Visit Interface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8D3938B8-A24A-135A-4659-E994F7B6B0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1606" y="305633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4110" name="Picture 11">
            <a:extLst>
              <a:ext uri="{FF2B5EF4-FFF2-40B4-BE49-F238E27FC236}">
                <a16:creationId xmlns:a16="http://schemas.microsoft.com/office/drawing/2014/main" id="{ADE654A1-C058-2CF2-205E-DF97F5BFD2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1606" y="3513534"/>
            <a:ext cx="2582863" cy="1501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6">
            <a:extLst>
              <a:ext uri="{FF2B5EF4-FFF2-40B4-BE49-F238E27FC236}">
                <a16:creationId xmlns:a16="http://schemas.microsoft.com/office/drawing/2014/main" id="{47279F67-983C-C411-7A74-DA148419A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1606" y="5015309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Fig A.6.1: Create New Visit Interface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18">
            <a:extLst>
              <a:ext uri="{FF2B5EF4-FFF2-40B4-BE49-F238E27FC236}">
                <a16:creationId xmlns:a16="http://schemas.microsoft.com/office/drawing/2014/main" id="{6CF14409-251E-2434-41A4-5106492615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0436" y="3156743"/>
            <a:ext cx="13616791" cy="3634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4113" name="Picture 12">
            <a:extLst>
              <a:ext uri="{FF2B5EF4-FFF2-40B4-BE49-F238E27FC236}">
                <a16:creationId xmlns:a16="http://schemas.microsoft.com/office/drawing/2014/main" id="{E8610007-7EC9-0FBD-DAB1-0FF002B291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0438" y="3613943"/>
            <a:ext cx="2875838" cy="1397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9">
            <a:extLst>
              <a:ext uri="{FF2B5EF4-FFF2-40B4-BE49-F238E27FC236}">
                <a16:creationId xmlns:a16="http://schemas.microsoft.com/office/drawing/2014/main" id="{2DF02287-E99A-1941-BB87-14B310BCB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0436" y="4946102"/>
            <a:ext cx="1361679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Fig A.7: Add Diagnosis Interface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4CFAB5F9-94DA-097C-EBE8-17962DED14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5469" y="3121620"/>
            <a:ext cx="12774534" cy="4000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4116" name="Picture 13">
            <a:extLst>
              <a:ext uri="{FF2B5EF4-FFF2-40B4-BE49-F238E27FC236}">
                <a16:creationId xmlns:a16="http://schemas.microsoft.com/office/drawing/2014/main" id="{9325CC54-C552-3C60-152C-6043276EBB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95469" y="3578820"/>
            <a:ext cx="2697955" cy="1375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22">
            <a:extLst>
              <a:ext uri="{FF2B5EF4-FFF2-40B4-BE49-F238E27FC236}">
                <a16:creationId xmlns:a16="http://schemas.microsoft.com/office/drawing/2014/main" id="{C40912BD-06C8-65FA-2AB9-B173BC81D0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5469" y="4910979"/>
            <a:ext cx="12774534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Fig A.8: Add Prescription Interface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09113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B2D9B0-F60C-912B-73EC-5693677B0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23-04-2026</a:t>
            </a:fld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0FC09D-165A-F88D-77ED-773CC7809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22</a:t>
            </a:fld>
            <a:endParaRPr lang="en-IN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DD7D22F-A7F2-85C0-5BF5-0E32D3C641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6193" y="804041"/>
            <a:ext cx="12988760" cy="3833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5121" name="Picture 14">
            <a:extLst>
              <a:ext uri="{FF2B5EF4-FFF2-40B4-BE49-F238E27FC236}">
                <a16:creationId xmlns:a16="http://schemas.microsoft.com/office/drawing/2014/main" id="{129970A8-D2DA-4478-0F32-0C0B10DEFD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6193" y="995716"/>
            <a:ext cx="3757448" cy="1778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FF6233A5-D171-62CF-AF16-45E3E80EA1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6193" y="2774620"/>
            <a:ext cx="1298876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Fig A.9: Lab Tests Order Interface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E665F0-8612-9B3E-C537-F2874AE0F7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8358" y="730192"/>
            <a:ext cx="15452151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5124" name="Picture 15">
            <a:extLst>
              <a:ext uri="{FF2B5EF4-FFF2-40B4-BE49-F238E27FC236}">
                <a16:creationId xmlns:a16="http://schemas.microsoft.com/office/drawing/2014/main" id="{E098900B-F08E-7D5C-7763-6E9D5F3204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8359" y="995716"/>
            <a:ext cx="3757448" cy="1778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9308274-3EA9-907B-B5E2-A2EE1EB9B8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8357" y="2866952"/>
            <a:ext cx="1545215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Fig A.10: Chronic Disease Progress Tracking Interface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A2F0128E-D737-12DF-39A4-2BDA723DF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6193" y="29718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5127" name="Picture 17">
            <a:extLst>
              <a:ext uri="{FF2B5EF4-FFF2-40B4-BE49-F238E27FC236}">
                <a16:creationId xmlns:a16="http://schemas.microsoft.com/office/drawing/2014/main" id="{B5109FF6-10EA-29A9-DE1E-1E8A556765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6193" y="3428999"/>
            <a:ext cx="3757448" cy="1900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9">
            <a:extLst>
              <a:ext uri="{FF2B5EF4-FFF2-40B4-BE49-F238E27FC236}">
                <a16:creationId xmlns:a16="http://schemas.microsoft.com/office/drawing/2014/main" id="{E3EFCF11-2C46-DA96-1342-07667FF882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6193" y="553112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Fig A.11: Patient Summary Sheet Interface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1623A9E0-A148-1437-8C1A-211B8B77DD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2164" y="342469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5130" name="Picture 19">
            <a:extLst>
              <a:ext uri="{FF2B5EF4-FFF2-40B4-BE49-F238E27FC236}">
                <a16:creationId xmlns:a16="http://schemas.microsoft.com/office/drawing/2014/main" id="{571F8142-FDBA-AD4C-A2E3-C06F7EC80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8357" y="3419279"/>
            <a:ext cx="3757450" cy="1900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2">
            <a:extLst>
              <a:ext uri="{FF2B5EF4-FFF2-40B4-BE49-F238E27FC236}">
                <a16:creationId xmlns:a16="http://schemas.microsoft.com/office/drawing/2014/main" id="{8F1B0CD1-AF5D-F441-0F46-7ADB857707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6812" y="551631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Fig A.12: Report Export Interface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70075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A4C20CB-2269-D50C-B58C-794E77B8EC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3297" y="788276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6148" name="Picture 20">
            <a:extLst>
              <a:ext uri="{FF2B5EF4-FFF2-40B4-BE49-F238E27FC236}">
                <a16:creationId xmlns:a16="http://schemas.microsoft.com/office/drawing/2014/main" id="{2408ECF3-0D87-E717-1592-85198A774E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3581" y="1245476"/>
            <a:ext cx="5684838" cy="2941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0C16305-B03F-F9F9-F8F7-58FBCE237F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7366" y="480196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125" algn="l"/>
              </a:tabLst>
            </a:pPr>
            <a:r>
              <a:rPr kumimoji="0" lang="en-US" altLang="en-US" sz="12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Fig A.13: Patient Login Interface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125" algn="l"/>
              </a:tabLst>
            </a:pP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This image shows the Patient Login screen of MediCare Plus allowing patients to securely access their records, reports, and prescriptions.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76677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5A1277-FD0C-288E-A1D0-143C732A3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23-04-2026</a:t>
            </a:fld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273FDC-0E43-966B-D48F-6484340AB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24</a:t>
            </a:fld>
            <a:endParaRPr lang="en-IN" dirty="0"/>
          </a:p>
        </p:txBody>
      </p:sp>
      <p:pic>
        <p:nvPicPr>
          <p:cNvPr id="7170" name="Picture 21">
            <a:extLst>
              <a:ext uri="{FF2B5EF4-FFF2-40B4-BE49-F238E27FC236}">
                <a16:creationId xmlns:a16="http://schemas.microsoft.com/office/drawing/2014/main" id="{B8FAC704-E83B-184F-897B-7EF322AABC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0207" y="890587"/>
            <a:ext cx="3505200" cy="1760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69" name="Picture 22">
            <a:extLst>
              <a:ext uri="{FF2B5EF4-FFF2-40B4-BE49-F238E27FC236}">
                <a16:creationId xmlns:a16="http://schemas.microsoft.com/office/drawing/2014/main" id="{8F5A1759-632E-4EB3-902A-C25760751B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0207" y="2983707"/>
            <a:ext cx="3521075" cy="1989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6E048AE-0479-D629-006A-9B9B9E6D86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7327" y="275033"/>
            <a:ext cx="7397346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125" algn="l"/>
              </a:tabLs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PATIENT DASHBOARD: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125" algn="l"/>
              </a:tabLs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8DE65B-A634-AB9E-5E80-52C8D7936F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9352" y="298370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125" algn="l"/>
              </a:tabLst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Dark Theme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125" algn="l"/>
              </a:tabLs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6C1132-2AE6-E570-B015-6A078EB9DA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9352" y="516857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125" algn="l"/>
              </a:tabLst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Light Theme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125" algn="l"/>
              </a:tabLst>
            </a:pPr>
            <a:r>
              <a:rPr kumimoji="0" lang="en-US" altLang="en-US" sz="12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Fig A.14: Patient Dashboard Interface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125" algn="l"/>
              </a:tabLst>
            </a:pP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This image shows the Patient Dashboard of MediCare Plus displaying personal details, medical information, and upcoming appointment status.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75940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0EAE90-4FAD-9FCC-376D-0152724B7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23-04-2026</a:t>
            </a:fld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16FCBE-ACF2-0A23-32BC-C67A3DEC5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25</a:t>
            </a:fld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1B7B00-320F-2CA7-18B4-E8C34CBE260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182" y="896948"/>
            <a:ext cx="2743200" cy="1714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D0DB7FE-A2BC-786D-7523-900015D48E8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1564" y="896947"/>
            <a:ext cx="2696719" cy="1714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9FAE249-DFF1-C0D9-B195-E468E53E580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7465" y="896947"/>
            <a:ext cx="2743200" cy="171481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23717E3-3087-2BAE-E1E9-5651CF34BE68}"/>
              </a:ext>
            </a:extLst>
          </p:cNvPr>
          <p:cNvSpPr txBox="1"/>
          <p:nvPr/>
        </p:nvSpPr>
        <p:spPr>
          <a:xfrm>
            <a:off x="504497" y="2984703"/>
            <a:ext cx="11382703" cy="6131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  <a:tabLst>
                <a:tab pos="619125" algn="l"/>
              </a:tabLst>
            </a:pPr>
            <a:r>
              <a:rPr lang="en-IN" sz="1200" b="1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 A.15: Patient Registration Interface</a:t>
            </a:r>
            <a:endParaRPr lang="en-IN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None/>
              <a:tabLst>
                <a:tab pos="619125" algn="l"/>
              </a:tabLst>
            </a:pPr>
            <a:r>
              <a:rPr lang="en-IN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This image shows the Patient Registration screen of MediCare Plus where new users enter personal and login details to create an account.</a:t>
            </a: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FCA6D3FB-2D79-F355-0C81-DB749167BF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9182" y="332772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8197" name="Picture 1">
            <a:extLst>
              <a:ext uri="{FF2B5EF4-FFF2-40B4-BE49-F238E27FC236}">
                <a16:creationId xmlns:a16="http://schemas.microsoft.com/office/drawing/2014/main" id="{A145007D-20E7-AD3E-A7DC-4E95BE648C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0782" y="3873358"/>
            <a:ext cx="2743200" cy="1585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7">
            <a:extLst>
              <a:ext uri="{FF2B5EF4-FFF2-40B4-BE49-F238E27FC236}">
                <a16:creationId xmlns:a16="http://schemas.microsoft.com/office/drawing/2014/main" id="{8951F530-E9A9-11F1-86A5-1404E03862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3438" y="561065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Fig A.16: Appointment Booking Interface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EE02826B-0F8D-5553-40ED-9CF60083D2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1564" y="3337672"/>
            <a:ext cx="127606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8200" name="Picture 27">
            <a:extLst>
              <a:ext uri="{FF2B5EF4-FFF2-40B4-BE49-F238E27FC236}">
                <a16:creationId xmlns:a16="http://schemas.microsoft.com/office/drawing/2014/main" id="{2110B5BE-A691-7667-6A86-CCD9E1C1C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8834" y="3873358"/>
            <a:ext cx="2743199" cy="1531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0">
            <a:extLst>
              <a:ext uri="{FF2B5EF4-FFF2-40B4-BE49-F238E27FC236}">
                <a16:creationId xmlns:a16="http://schemas.microsoft.com/office/drawing/2014/main" id="{E9BE3029-5A2D-B23D-AFD2-8FBD03E29F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3881" y="5482887"/>
            <a:ext cx="1276061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Fig A.17: Patient Medical Records Interface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9214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A825BB-CE53-FF4F-272B-66AFE6441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23-04-2026</a:t>
            </a:fld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91C921-1F2C-60B1-6323-70F950FEA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26</a:t>
            </a:fld>
            <a:endParaRPr lang="en-IN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206EFE7-4D26-0E77-DCD6-2CCD4B3932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4725" y="945931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9217" name="Picture 28">
            <a:extLst>
              <a:ext uri="{FF2B5EF4-FFF2-40B4-BE49-F238E27FC236}">
                <a16:creationId xmlns:a16="http://schemas.microsoft.com/office/drawing/2014/main" id="{BA738353-4019-13F2-6CBD-6178FC6CE8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725" y="1403131"/>
            <a:ext cx="4732392" cy="2932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E01B07DC-E468-4F80-1D38-52E5915559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698641" y="491128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125" algn="l"/>
              </a:tabLst>
            </a:pPr>
            <a:r>
              <a:rPr kumimoji="0" lang="en-US" altLang="en-US" sz="12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Fig A.18: Medical Files Interface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DD06A8-34A1-98EC-C668-4382A07D9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4885" y="1403131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9220" name="Picture 29">
            <a:extLst>
              <a:ext uri="{FF2B5EF4-FFF2-40B4-BE49-F238E27FC236}">
                <a16:creationId xmlns:a16="http://schemas.microsoft.com/office/drawing/2014/main" id="{3EA4E281-5F31-2FD3-4766-5514E3FFCE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4884" y="1403131"/>
            <a:ext cx="4868915" cy="2932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80B898E-2575-5803-47BA-0495E5E4B8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0458" y="489804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Fig A.19: Upload Medical File Interface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65548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9974D7-911E-E8D2-8062-C802D33D1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23-04-2026</a:t>
            </a:fld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594416-7913-80A4-E7ED-A3F763621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27</a:t>
            </a:fld>
            <a:endParaRPr lang="en-IN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40854C2C-4D35-705E-E298-5235C5F1E9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10241" name="Picture 30">
            <a:extLst>
              <a:ext uri="{FF2B5EF4-FFF2-40B4-BE49-F238E27FC236}">
                <a16:creationId xmlns:a16="http://schemas.microsoft.com/office/drawing/2014/main" id="{FE55047E-09AE-71AE-695E-78223D18D7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3581" y="1019367"/>
            <a:ext cx="5684838" cy="3192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180A6F9B-88D2-CB07-DA11-225B34A413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5117" y="492667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125" algn="l"/>
              </a:tabLst>
            </a:pPr>
            <a:r>
              <a:rPr kumimoji="0" lang="en-US" altLang="en-US" sz="12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Fig A.20: Receptionist Login Interface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125" algn="l"/>
              </a:tabLst>
            </a:pP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This image shows the Receptionist Login screen of MediCare Plus enabling staff to manage appointments and assign doctors securely.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1322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6B54CC-872F-BCD2-1771-156E2BF86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23-04-2026</a:t>
            </a:fld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CB0ED6-F68C-E574-56E7-70AF5A8E2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28</a:t>
            </a:fld>
            <a:endParaRPr lang="en-IN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A8F326A-3B31-6107-4E34-CD04FE27F5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0596" y="1039825"/>
            <a:ext cx="7731604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125" algn="l"/>
              </a:tabLs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RECEPTIONIST DASHBOARD: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125" algn="l"/>
              </a:tabLs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265" name="Picture 31">
            <a:extLst>
              <a:ext uri="{FF2B5EF4-FFF2-40B4-BE49-F238E27FC236}">
                <a16:creationId xmlns:a16="http://schemas.microsoft.com/office/drawing/2014/main" id="{FCE1A721-C0F6-D368-83F3-DA5CF6B394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3581" y="1655379"/>
            <a:ext cx="5684838" cy="3192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875CFB03-EC7C-D689-22EF-A16268970C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0807" y="530504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125" algn="l"/>
              </a:tabLst>
            </a:pPr>
            <a:r>
              <a:rPr kumimoji="0" lang="en-US" altLang="en-US" sz="12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Figure A21: Receptionist Dashboard Interface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125" algn="l"/>
              </a:tabLst>
            </a:pP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This image shows the Receptionist Dashboard of MediCare Plus displaying patient statistics and options to manage appointment queues and patient records.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9221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E0150D-432E-F7B7-6BC8-F67A6043D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23-04-2026</a:t>
            </a:fld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B4E6C3-EBA1-D9F2-3AF5-DB954461B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29</a:t>
            </a:fld>
            <a:endParaRPr lang="en-IN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BE728D6-8BBD-9DFE-21A5-1DEB3E3187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646386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12289" name="Picture 32">
            <a:extLst>
              <a:ext uri="{FF2B5EF4-FFF2-40B4-BE49-F238E27FC236}">
                <a16:creationId xmlns:a16="http://schemas.microsoft.com/office/drawing/2014/main" id="{E8B4A993-0403-B455-0BDB-6D3EAACDA1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103585"/>
            <a:ext cx="4348655" cy="2601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D8508B17-48A0-C0FB-7A26-B6D8626031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0807" y="4343115"/>
            <a:ext cx="334418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125" algn="l"/>
              </a:tabLst>
            </a:pPr>
            <a:r>
              <a:rPr kumimoji="0" lang="en-US" altLang="en-US" sz="12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Fig A.22: Appointment Queue Interface</a:t>
            </a:r>
            <a:endParaRPr kumimoji="0" lang="en-US" altLang="en-US" sz="12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125" algn="l"/>
              </a:tabLst>
            </a:pP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This image shows the Appointment Queue of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125" algn="l"/>
              </a:tabLst>
            </a:pP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MediCare</a:t>
            </a:r>
            <a:r>
              <a:rPr lang="en-US" altLang="en-US" sz="1200" i="1" dirty="0">
                <a:ea typeface="Times New Roman" panose="02020603050405020304" pitchFamily="18" charset="0"/>
              </a:rPr>
              <a:t>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Plus where the receptionist reviews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125" algn="l"/>
              </a:tabLst>
            </a:pP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manages, and assigns patient appointments.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4CD3B0-BC4D-858F-2F5B-F3C018593D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8628" y="646386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12292" name="Picture 33">
            <a:extLst>
              <a:ext uri="{FF2B5EF4-FFF2-40B4-BE49-F238E27FC236}">
                <a16:creationId xmlns:a16="http://schemas.microsoft.com/office/drawing/2014/main" id="{0F819614-D882-071C-E21F-F9AE77B2BD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3483" y="1103585"/>
            <a:ext cx="4348654" cy="2601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6ABE35E-FC6A-3EE9-9AAA-5783132146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3483" y="4343115"/>
            <a:ext cx="414408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125" algn="l"/>
              </a:tabLst>
            </a:pPr>
            <a:r>
              <a:rPr kumimoji="0" lang="en-US" altLang="en-US" sz="12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Fig A.23: Patient Management Interface</a:t>
            </a:r>
            <a:endParaRPr kumimoji="0" lang="en-US" altLang="en-US" sz="12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125" algn="l"/>
              </a:tabLst>
            </a:pP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This image shows the Patient Management screen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125" algn="l"/>
              </a:tabLst>
            </a:pP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of MediCare Plus displaying patient details, visit statistics,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125" algn="l"/>
              </a:tabLst>
            </a:pP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and record overview.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0511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F24DB2-172A-59C5-7E9D-375EA8927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23-04-2026</a:t>
            </a:fld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80182B-FA1A-787A-A996-59076EDC2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30</a:t>
            </a:fld>
            <a:endParaRPr lang="en-IN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ED8FC85-1348-5646-CD52-CBAD7AA0C7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3581" y="59909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13313" name="Picture 34">
            <a:extLst>
              <a:ext uri="{FF2B5EF4-FFF2-40B4-BE49-F238E27FC236}">
                <a16:creationId xmlns:a16="http://schemas.microsoft.com/office/drawing/2014/main" id="{1325B8B1-6C74-9900-B60F-0B9201B891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3581" y="1056290"/>
            <a:ext cx="5684838" cy="3360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3F765C7C-2A96-1BC3-455E-5267C6338C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9373" y="511071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125" algn="l"/>
              </a:tabLst>
            </a:pPr>
            <a:r>
              <a:rPr kumimoji="0" lang="en-US" altLang="en-US" sz="12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Fig A.24: Radiologist Login Interface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125" algn="l"/>
              </a:tabLst>
            </a:pP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This image shows the Radiologist Login screen of MediCare Plus enabling secure access to upload and manage patient scan reports.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42711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245C59-8880-AD8D-C9C4-7A26EBC8C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23-04-2026</a:t>
            </a:fld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F4426B-D0F2-8114-194D-9D0C1DCBF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31</a:t>
            </a:fld>
            <a:endParaRPr lang="en-IN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72F5401-54C6-3363-3D4A-A4F781C883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2255" y="1087122"/>
            <a:ext cx="7687489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125" algn="l"/>
              </a:tabLs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RADIOLOGIST DASHBOARD: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125" algn="l"/>
              </a:tabLs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4337" name="Picture 36">
            <a:extLst>
              <a:ext uri="{FF2B5EF4-FFF2-40B4-BE49-F238E27FC236}">
                <a16:creationId xmlns:a16="http://schemas.microsoft.com/office/drawing/2014/main" id="{8BC740C0-9E28-6F40-EDD0-15CE929134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3581" y="1702675"/>
            <a:ext cx="5684838" cy="3192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FF626652-30BE-9952-3167-BF476FBE3E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538386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125" algn="l"/>
              </a:tabLst>
            </a:pPr>
            <a:r>
              <a:rPr kumimoji="0" lang="en-US" altLang="en-US" sz="12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Fig A.25: Radiologist Dashboard Interface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125" algn="l"/>
              </a:tabLst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This image shows the Radiologist Dashboard of MediCare Plus displaying system statistics and options to upload and manage diagnostic scans.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43055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129C19-53D7-F793-4181-4EDCBE749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23-04-2026</a:t>
            </a:fld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FD54B41-D608-D113-5A99-803CDFA41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32</a:t>
            </a:fld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670EB9-6B14-2164-8697-54141D105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15363" name="Picture 37">
            <a:extLst>
              <a:ext uri="{FF2B5EF4-FFF2-40B4-BE49-F238E27FC236}">
                <a16:creationId xmlns:a16="http://schemas.microsoft.com/office/drawing/2014/main" id="{D030C9DF-9188-91D2-CCC8-518913ABBE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599" y="1679027"/>
            <a:ext cx="4162097" cy="2356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4E4D740-C2D0-D441-CEDC-1D87178AAC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5176" y="4579422"/>
            <a:ext cx="353494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125" algn="l"/>
              </a:tabLst>
            </a:pPr>
            <a:r>
              <a:rPr kumimoji="0" lang="en-US" altLang="en-US" sz="12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Fig A.26: Upload Scan Interface</a:t>
            </a:r>
            <a:endParaRPr kumimoji="0" lang="en-US" altLang="en-US" sz="12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125" algn="l"/>
              </a:tabLst>
            </a:pP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This image shows the Upload Scan screen of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125" algn="l"/>
              </a:tabLst>
            </a:pP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MediCare Plus where radiologists select patients,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125" algn="l"/>
              </a:tabLst>
            </a:pP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upload scan files, and add diagnostic findings.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260D4A63-AC70-1C72-CF01-00E4664950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0310" y="10826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15366" name="Picture 38">
            <a:extLst>
              <a:ext uri="{FF2B5EF4-FFF2-40B4-BE49-F238E27FC236}">
                <a16:creationId xmlns:a16="http://schemas.microsoft.com/office/drawing/2014/main" id="{AB89E1A5-F4CA-D165-69AB-1D3812F7D6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8432" y="1686966"/>
            <a:ext cx="4114800" cy="2356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8">
            <a:extLst>
              <a:ext uri="{FF2B5EF4-FFF2-40B4-BE49-F238E27FC236}">
                <a16:creationId xmlns:a16="http://schemas.microsoft.com/office/drawing/2014/main" id="{4DA552CD-30A7-3608-973A-FF67C7F4F4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3664" y="4442678"/>
            <a:ext cx="3424335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125" algn="l"/>
              </a:tabLst>
            </a:pPr>
            <a:r>
              <a:rPr kumimoji="0" lang="en-US" altLang="en-US" sz="12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Fig A.27: Scan File Selection Interface</a:t>
            </a:r>
            <a:endParaRPr kumimoji="0" lang="en-US" altLang="en-US" sz="12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125" algn="l"/>
              </a:tabLst>
            </a:pP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This image shows the file selection dialog used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125" algn="l"/>
              </a:tabLst>
            </a:pP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by radiologists to choose and upload scan files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125" algn="l"/>
              </a:tabLst>
            </a:pP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from the system.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95033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E1C36B-2540-A701-AB85-108FFF2F0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23-04-2026</a:t>
            </a:fld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5C4831-2CD9-FFF4-433F-735D3A3CA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33</a:t>
            </a:fld>
            <a:endParaRPr lang="en-IN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5376EE3-04B0-8CC7-BBDE-0F3C28B82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1572" y="72521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16385" name="Picture 2">
            <a:extLst>
              <a:ext uri="{FF2B5EF4-FFF2-40B4-BE49-F238E27FC236}">
                <a16:creationId xmlns:a16="http://schemas.microsoft.com/office/drawing/2014/main" id="{82B1AA3D-6C86-8E07-3908-F083E8E780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1572" y="1182414"/>
            <a:ext cx="5684838" cy="3192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13B546A7-A2EC-6A40-0699-B217A19C7B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0785" y="502126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125" algn="l"/>
              </a:tabLst>
            </a:pPr>
            <a:r>
              <a:rPr kumimoji="0" lang="en-US" altLang="en-US" sz="12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Fig A.28: Pharmacist Login Interface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125" algn="l"/>
              </a:tabLst>
            </a:pP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This image shows the Pharmacist Login screen of MediCare Plus enabling secure access to manage and dispense prescriptions.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33662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A26B2C-02B2-503F-14CF-13C7C3B41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23-04-2026</a:t>
            </a:fld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907A62-1903-D06D-53A6-711A09E4C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34</a:t>
            </a:fld>
            <a:endParaRPr lang="en-IN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D96247E-2D24-A468-B320-9DFFE7AA0B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7483" y="1135118"/>
            <a:ext cx="7657033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125" algn="l"/>
              </a:tabLs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PHARMACIST DASHBOARD: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125" algn="l"/>
              </a:tabLs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7409" name="Picture 3">
            <a:extLst>
              <a:ext uri="{FF2B5EF4-FFF2-40B4-BE49-F238E27FC236}">
                <a16:creationId xmlns:a16="http://schemas.microsoft.com/office/drawing/2014/main" id="{D8CC2964-CA7E-1549-B126-64B14F43A5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3581" y="1592318"/>
            <a:ext cx="5684838" cy="3192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7939B654-2855-70CE-3626-32B63DC54F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6192" y="5013381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125" algn="l"/>
              </a:tabLst>
            </a:pPr>
            <a:r>
              <a:rPr kumimoji="0" lang="en-US" altLang="en-US" sz="12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Fig A.29: Pharmacist Dashboard Interface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125" algn="l"/>
              </a:tabLst>
            </a:pP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This image shows the Pharmacist Dashboard of MediCare Plus displaying system statistics and options to view and manage prescriptions.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14386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F4C451-1F78-7D82-3820-780B9EFFB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23-04-2026</a:t>
            </a:fld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D442D4-A514-2553-82CD-8319DC499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35</a:t>
            </a:fld>
            <a:endParaRPr lang="en-IN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1201BE0-BC07-3F2A-7A52-D9EB82F5EA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1765" y="115088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18433" name="Picture 4">
            <a:extLst>
              <a:ext uri="{FF2B5EF4-FFF2-40B4-BE49-F238E27FC236}">
                <a16:creationId xmlns:a16="http://schemas.microsoft.com/office/drawing/2014/main" id="{00C7B836-DD25-36A7-CECA-78C73744BE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3581" y="1283453"/>
            <a:ext cx="5684838" cy="3192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7BBA149E-8D09-A34E-532D-ACDC306CDF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1765" y="4769801"/>
            <a:ext cx="789876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125" algn="l"/>
              </a:tabLst>
            </a:pPr>
            <a:r>
              <a:rPr kumimoji="0" lang="en-US" altLang="en-US" sz="12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Fig A.30: Prescriptions Management Interface</a:t>
            </a:r>
            <a:endParaRPr kumimoji="0" lang="en-US" altLang="en-US" sz="12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125" algn="l"/>
              </a:tabLst>
            </a:pP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This image shows the Pharmacist’s Prescriptions Management screen displaying patient prescriptions with details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125" algn="l"/>
              </a:tabLst>
            </a:pP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such as medicine, dosage, frequency, duration, and dispensing status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28353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4901E2-A9C8-8346-5573-1A8DFCD90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23-04-2026</a:t>
            </a:fld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D94785-F3EC-73A3-6527-391A7025E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36</a:t>
            </a:fld>
            <a:endParaRPr lang="en-IN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4717CC7-7424-45AA-F567-A1BADA8B11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3581" y="77251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19457" name="Picture 5">
            <a:extLst>
              <a:ext uri="{FF2B5EF4-FFF2-40B4-BE49-F238E27FC236}">
                <a16:creationId xmlns:a16="http://schemas.microsoft.com/office/drawing/2014/main" id="{0617AA10-EA57-E88D-76FB-02E12CB157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3581" y="1229710"/>
            <a:ext cx="5684838" cy="3192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67E47B25-CA79-BA36-ECF9-CDDF0C51C0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5236" y="516315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125" algn="l"/>
              </a:tabLst>
            </a:pPr>
            <a:r>
              <a:rPr kumimoji="0" lang="en-US" altLang="en-US" sz="12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Fig A.31: Admin Login Interface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125" algn="l"/>
              </a:tabLst>
            </a:pP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This image shows the Admin login screen of MediCare Plus with fields for username and password to access system administration features.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594863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50812F-4DAC-FA88-ABC0-60A47FD92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23-04-2026</a:t>
            </a:fld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788E49-E7F4-F357-3C79-8BDAB1A92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37</a:t>
            </a:fld>
            <a:endParaRPr lang="en-IN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6A5C546-C3CD-C4BB-E149-99E2FD69BA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0608" y="1198180"/>
            <a:ext cx="7310784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125" algn="l"/>
              </a:tabLs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ADMIN DASHBOARD: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125" algn="l"/>
              </a:tabLst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481" name="Picture 6">
            <a:extLst>
              <a:ext uri="{FF2B5EF4-FFF2-40B4-BE49-F238E27FC236}">
                <a16:creationId xmlns:a16="http://schemas.microsoft.com/office/drawing/2014/main" id="{C303C9AB-68EA-FEF5-D1D5-F37BBE5999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3581" y="1655380"/>
            <a:ext cx="5684838" cy="3192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921E3494-EECC-71BC-157A-320B35670D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4304" y="507644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6191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125" algn="l"/>
              </a:tabLst>
            </a:pPr>
            <a:r>
              <a:rPr kumimoji="0" lang="en-US" altLang="en-US" sz="12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Fig A.32: Admin Dashboard Interface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19125" algn="l"/>
              </a:tabLst>
            </a:pP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This image shows the Admin dashboard displaying key metrics like total patients, doctors, visits, and options to manage and import patient data.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4476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CADCF9-474B-2137-B9AB-E852AF816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23-04-2026</a:t>
            </a:fld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B840F0-BB4D-3D05-1F38-4342155AE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38</a:t>
            </a:fld>
            <a:endParaRPr lang="en-IN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8A60CC6-BFE5-9830-E463-1E8CE21BF1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9352" y="169862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21505" name="Picture 7">
            <a:extLst>
              <a:ext uri="{FF2B5EF4-FFF2-40B4-BE49-F238E27FC236}">
                <a16:creationId xmlns:a16="http://schemas.microsoft.com/office/drawing/2014/main" id="{BF18E953-3BB0-93C9-F7E3-89760B6335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6423" y="996103"/>
            <a:ext cx="3781096" cy="1862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B033625E-6A67-53A0-7CCF-6C8E225869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9538" y="308215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Fig A.33: Edit Patient Details Interface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6048CC-D339-691E-F177-3E3FCEA77D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4482" y="724611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21508" name="Picture 8">
            <a:extLst>
              <a:ext uri="{FF2B5EF4-FFF2-40B4-BE49-F238E27FC236}">
                <a16:creationId xmlns:a16="http://schemas.microsoft.com/office/drawing/2014/main" id="{D715D3F5-20F7-C3BA-EADC-BC05FD9B37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4482" y="930169"/>
            <a:ext cx="3781096" cy="1862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30BE8EF-9A88-3BDA-A17A-E5B1EFDEDB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8978" y="3034861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Fig A.34: Delete Confirmation Dialog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F857D9E4-1222-B18A-5E97-EFBBFC80B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6422" y="3419200"/>
            <a:ext cx="1964737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21511" name="Picture 10">
            <a:extLst>
              <a:ext uri="{FF2B5EF4-FFF2-40B4-BE49-F238E27FC236}">
                <a16:creationId xmlns:a16="http://schemas.microsoft.com/office/drawing/2014/main" id="{AD2AFF6C-9AF6-88EB-DCFA-021AADD162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6423" y="3458614"/>
            <a:ext cx="3781096" cy="1879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9">
            <a:extLst>
              <a:ext uri="{FF2B5EF4-FFF2-40B4-BE49-F238E27FC236}">
                <a16:creationId xmlns:a16="http://schemas.microsoft.com/office/drawing/2014/main" id="{A394F293-B5FE-887B-E35F-BF6C07B9D0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6421" y="5338297"/>
            <a:ext cx="19647373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Fig A.35: Manage Doctors Interface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1B6272A8-8534-5D6D-484E-024F84D82B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4482" y="321403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21514" name="Picture 11">
            <a:extLst>
              <a:ext uri="{FF2B5EF4-FFF2-40B4-BE49-F238E27FC236}">
                <a16:creationId xmlns:a16="http://schemas.microsoft.com/office/drawing/2014/main" id="{5812BE25-EDB7-5A9F-3DD7-C9A59B27DC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4482" y="3419200"/>
            <a:ext cx="3781095" cy="1853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2">
            <a:extLst>
              <a:ext uri="{FF2B5EF4-FFF2-40B4-BE49-F238E27FC236}">
                <a16:creationId xmlns:a16="http://schemas.microsoft.com/office/drawing/2014/main" id="{15BCF33F-0B54-127B-40C8-182DB8D3EA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4482" y="548067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Fig A.36: Import Patients and Visit Data Interface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5816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39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>
                <a:hlinkClick r:id="rId2"/>
              </a:rPr>
              <a:t>https://github.com/meharshithv14-ctrl/INTERNSHIP</a:t>
            </a:r>
            <a:endParaRPr lang="en-US" dirty="0"/>
          </a:p>
          <a:p>
            <a:pPr marL="0" indent="0" algn="ctr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40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7070</TotalTime>
  <Words>1936</Words>
  <Application>Microsoft Office PowerPoint</Application>
  <PresentationFormat>Widescreen</PresentationFormat>
  <Paragraphs>304</Paragraphs>
  <Slides>41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9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Working domain or the technology</vt:lpstr>
      <vt:lpstr>About your team and reporting Manager</vt:lpstr>
      <vt:lpstr>Challenges Faced in Internship</vt:lpstr>
      <vt:lpstr>Objectives of the work</vt:lpstr>
      <vt:lpstr>Literature Review</vt:lpstr>
      <vt:lpstr>Proposed System / Work</vt:lpstr>
      <vt:lpstr>Problem Statement</vt:lpstr>
      <vt:lpstr>System Requirements</vt:lpstr>
      <vt:lpstr>Advantages of Proposed System/Work</vt:lpstr>
      <vt:lpstr>System Design</vt:lpstr>
      <vt:lpstr>System Implementation</vt:lpstr>
      <vt:lpstr>System Testing</vt:lpstr>
      <vt:lpstr>Conclusion</vt:lpstr>
      <vt:lpstr>References</vt:lpstr>
      <vt:lpstr>Output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Harshith V</cp:lastModifiedBy>
  <cp:revision>723</cp:revision>
  <dcterms:created xsi:type="dcterms:W3CDTF">2022-10-14T07:18:17Z</dcterms:created>
  <dcterms:modified xsi:type="dcterms:W3CDTF">2026-04-23T05:03:26Z</dcterms:modified>
</cp:coreProperties>
</file>